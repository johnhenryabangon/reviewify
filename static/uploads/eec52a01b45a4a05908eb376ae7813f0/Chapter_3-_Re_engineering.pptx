
<file path=[Content_Types].xml><?xml version="1.0" encoding="utf-8"?>
<Types xmlns="http://schemas.openxmlformats.org/package/2006/content-types">
  <Default Extension="docx" ContentType="application/vnd.openxmlformats-officedocument.wordprocessingml.document"/>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74"/>
  </p:notesMasterIdLst>
  <p:handoutMasterIdLst>
    <p:handoutMasterId r:id="rId75"/>
  </p:handoutMasterIdLst>
  <p:sldIdLst>
    <p:sldId id="256" r:id="rId2"/>
    <p:sldId id="276" r:id="rId3"/>
    <p:sldId id="277" r:id="rId4"/>
    <p:sldId id="278" r:id="rId5"/>
    <p:sldId id="280" r:id="rId6"/>
    <p:sldId id="257" r:id="rId7"/>
    <p:sldId id="258" r:id="rId8"/>
    <p:sldId id="281" r:id="rId9"/>
    <p:sldId id="282" r:id="rId10"/>
    <p:sldId id="283" r:id="rId11"/>
    <p:sldId id="286" r:id="rId12"/>
    <p:sldId id="287" r:id="rId13"/>
    <p:sldId id="259" r:id="rId14"/>
    <p:sldId id="310" r:id="rId15"/>
    <p:sldId id="288" r:id="rId16"/>
    <p:sldId id="260" r:id="rId17"/>
    <p:sldId id="289" r:id="rId18"/>
    <p:sldId id="311" r:id="rId19"/>
    <p:sldId id="261" r:id="rId20"/>
    <p:sldId id="312" r:id="rId21"/>
    <p:sldId id="313" r:id="rId22"/>
    <p:sldId id="291" r:id="rId23"/>
    <p:sldId id="314" r:id="rId24"/>
    <p:sldId id="262" r:id="rId25"/>
    <p:sldId id="264" r:id="rId26"/>
    <p:sldId id="315" r:id="rId27"/>
    <p:sldId id="320" r:id="rId28"/>
    <p:sldId id="265" r:id="rId29"/>
    <p:sldId id="338" r:id="rId30"/>
    <p:sldId id="321" r:id="rId31"/>
    <p:sldId id="324" r:id="rId32"/>
    <p:sldId id="323" r:id="rId33"/>
    <p:sldId id="266" r:id="rId34"/>
    <p:sldId id="322" r:id="rId35"/>
    <p:sldId id="325" r:id="rId36"/>
    <p:sldId id="302" r:id="rId37"/>
    <p:sldId id="269" r:id="rId38"/>
    <p:sldId id="303" r:id="rId39"/>
    <p:sldId id="304" r:id="rId40"/>
    <p:sldId id="333" r:id="rId41"/>
    <p:sldId id="270" r:id="rId42"/>
    <p:sldId id="340" r:id="rId43"/>
    <p:sldId id="339" r:id="rId44"/>
    <p:sldId id="341" r:id="rId45"/>
    <p:sldId id="342" r:id="rId46"/>
    <p:sldId id="335" r:id="rId47"/>
    <p:sldId id="343" r:id="rId48"/>
    <p:sldId id="344" r:id="rId49"/>
    <p:sldId id="336" r:id="rId50"/>
    <p:sldId id="345" r:id="rId51"/>
    <p:sldId id="346" r:id="rId52"/>
    <p:sldId id="305" r:id="rId53"/>
    <p:sldId id="271" r:id="rId54"/>
    <p:sldId id="306" r:id="rId55"/>
    <p:sldId id="272" r:id="rId56"/>
    <p:sldId id="292" r:id="rId57"/>
    <p:sldId id="294" r:id="rId58"/>
    <p:sldId id="293" r:id="rId59"/>
    <p:sldId id="273" r:id="rId60"/>
    <p:sldId id="295" r:id="rId61"/>
    <p:sldId id="296" r:id="rId62"/>
    <p:sldId id="297" r:id="rId63"/>
    <p:sldId id="298" r:id="rId64"/>
    <p:sldId id="299" r:id="rId65"/>
    <p:sldId id="301" r:id="rId66"/>
    <p:sldId id="347" r:id="rId67"/>
    <p:sldId id="348" r:id="rId68"/>
    <p:sldId id="274" r:id="rId69"/>
    <p:sldId id="349" r:id="rId70"/>
    <p:sldId id="350" r:id="rId71"/>
    <p:sldId id="275" r:id="rId72"/>
    <p:sldId id="309" r:id="rId73"/>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2/12/2026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2/12/2026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7B8CCC-C6F6-C744-8767-7124C04F432F}" type="datetime1">
              <a:rPr lang="en-US" smtClean="0"/>
              <a:t>2/12/2026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t>2/12/2026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t>2/12/2026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t>2/12/2026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t>2/12/2026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t>2/12/2026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t>2/12/2026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t>2/12/2026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t>2/12/2026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t>2/12/2026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t>2/12/2026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d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d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d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Lecture 1</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The software requirements document </a:t>
            </a:r>
            <a:endParaRPr lang="en-GB" dirty="0"/>
          </a:p>
          <a:p>
            <a:r>
              <a:rPr lang="en-US" dirty="0"/>
              <a:t>Requirements specification</a:t>
            </a:r>
            <a:endParaRPr lang="en-GB" dirty="0"/>
          </a:p>
          <a:p>
            <a:r>
              <a:rPr lang="en-US" dirty="0"/>
              <a:t>Requirements engineering processes</a:t>
            </a:r>
            <a:endParaRPr lang="en-GB" dirty="0"/>
          </a:p>
          <a:p>
            <a:r>
              <a:rPr lang="en-US" dirty="0"/>
              <a:t>Requirements elicitation and analysis</a:t>
            </a:r>
            <a:endParaRPr lang="en-GB" dirty="0"/>
          </a:p>
          <a:p>
            <a:r>
              <a:rPr lang="en-US" dirty="0"/>
              <a:t>Requirements validation</a:t>
            </a:r>
            <a:endParaRPr lang="en-GB" dirty="0"/>
          </a:p>
          <a:p>
            <a:r>
              <a:rPr lang="en-US" dirty="0"/>
              <a:t>Requirements management</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a:t>The process of establishing the services that the customer requires from a system and the constraints under which it operates and is developed.</a:t>
            </a:r>
          </a:p>
          <a:p>
            <a:r>
              <a:rPr lang="en-GB"/>
              <a:t>The requirements themselves are the descriptions of the system services and constraints that are generated during the requirements engineering process.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pic>
        <p:nvPicPr>
          <p:cNvPr id="4" name="Picture 3" descr="4.1 UserSysReq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143000" y="1626233"/>
            <a:ext cx="6553200" cy="4850767"/>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pic>
        <p:nvPicPr>
          <p:cNvPr id="4" name="Picture 3" descr="4.2 ReqReader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219200" y="2057400"/>
            <a:ext cx="6531232" cy="3651553"/>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Functional requirements for the MHC-PMS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 </a:t>
            </a:r>
            <a:endParaRPr lang="en-GB" dirty="0"/>
          </a:p>
          <a:p>
            <a:r>
              <a:rPr lang="en-US" dirty="0"/>
              <a:t>Each staff member using the system shall be uniquely identified by his or her 8-digit employee number.</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a:t>In principle, requirements should be both complete and consistent.</a:t>
            </a:r>
          </a:p>
          <a:p>
            <a:r>
              <a:rPr lang="en-GB" sz="2400"/>
              <a:t>Complete</a:t>
            </a:r>
          </a:p>
          <a:p>
            <a:pPr lvl="1"/>
            <a:r>
              <a:rPr lang="en-GB"/>
              <a:t>They should include descriptions of all facilities required.</a:t>
            </a:r>
          </a:p>
          <a:p>
            <a:r>
              <a:rPr lang="en-GB" sz="2400"/>
              <a:t>Consistent</a:t>
            </a:r>
          </a:p>
          <a:p>
            <a:pPr lvl="1"/>
            <a:r>
              <a:rPr lang="en-GB"/>
              <a:t>There should be no conflicts or contradictions in the descriptions of the system facilities.</a:t>
            </a:r>
          </a:p>
          <a:p>
            <a:r>
              <a:rPr lang="en-GB" sz="2400"/>
              <a:t>In practice, it is impossible to produce a complete and consistent requirements document.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pic>
        <p:nvPicPr>
          <p:cNvPr id="4" name="Picture 3" descr="4.3 Non-functionalReq.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r>
              <a:rPr lang="en-US" dirty="0"/>
              <a:t>Non-functional requirements may affect the overall architecture of a system rather than the individual components. </a:t>
            </a:r>
          </a:p>
          <a:p>
            <a:pPr lvl="1"/>
            <a:r>
              <a:rPr lang="en-US" dirty="0"/>
              <a:t>For example, to ensure that performance requirements are met, you may have to organize the system to minimize communications between components.</a:t>
            </a:r>
            <a:endParaRPr lang="en-GB" dirty="0"/>
          </a:p>
          <a:p>
            <a:r>
              <a:rPr lang="en-US" dirty="0"/>
              <a:t>A single non-functional requirement, such as a security requirement, may generate a number of related functional requirements that define system services that are required. </a:t>
            </a:r>
          </a:p>
          <a:p>
            <a:pPr lvl="1"/>
            <a:r>
              <a:rPr lang="en-US" dirty="0"/>
              <a:t>It may also generate requirements that restrict existing requirements. </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MHC-PMS</a:t>
            </a:r>
            <a:r>
              <a:rPr lang="en-GB" dirty="0"/>
              <a:t> </a:t>
            </a:r>
            <a:endParaRPr lang="en-US" dirty="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MHC-PMS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MHC-PMS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type="body"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Lecture 2</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type="body" idx="1"/>
          </p:nvPr>
        </p:nvSpPr>
        <p:spPr>
          <a:noFill/>
          <a:ln/>
        </p:spPr>
        <p:txBody>
          <a:bodyPr lIns="90487" tIns="44450" rIns="90487" bIns="44450"/>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p:txBody>
          <a:bodyPr/>
          <a:lstStyle/>
          <a:p>
            <a:r>
              <a:rPr lang="en-US" dirty="0"/>
              <a:t>Many agile methods argue that producing a requirements document is a waste of time as requirements change so quickly.</a:t>
            </a:r>
          </a:p>
          <a:p>
            <a:r>
              <a:rPr lang="en-US" dirty="0"/>
              <a:t>The document is therefore always out of date.</a:t>
            </a:r>
          </a:p>
          <a:p>
            <a:r>
              <a:rPr lang="en-US" dirty="0"/>
              <a:t>Methods such as XP use incremental requirements engineering and express requirements as ‘user stories’ (discussed in Chapter 3).</a:t>
            </a:r>
          </a:p>
          <a:p>
            <a:r>
              <a:rPr lang="en-US" dirty="0"/>
              <a:t>This is practical for business systems but problematic for systems that require a lot of pre-delivery analysis (e.g. critical systems) or systems developed by several teams.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pic>
        <p:nvPicPr>
          <p:cNvPr id="4" name="Picture 3" descr="4.6 ReqDocUser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514600" y="1486176"/>
            <a:ext cx="3810000" cy="4870174"/>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don the user and system requirements in a requirements document.</a:t>
            </a:r>
          </a:p>
          <a:p>
            <a:r>
              <a:rPr lang="en-US" dirty="0"/>
              <a:t>User requirements have to be understandable by end-users and customers who do not have a technical background.</a:t>
            </a:r>
          </a:p>
          <a:p>
            <a:r>
              <a:rPr lang="en-US" dirty="0"/>
              <a:t>System requirements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type="body"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type="body"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type="body"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type="body"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a:p>
            <a:pPr>
              <a:lnSpc>
                <a:spcPct val="90000"/>
              </a:lnSpc>
            </a:pPr>
            <a:r>
              <a:rPr lang="en-GB" dirty="0"/>
              <a:t>In practice, RE is an iterative activity in which these processes are interleaved.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pic>
        <p:nvPicPr>
          <p:cNvPr id="4" name="Picture 3" descr="4.12 ReqEngSpiral.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974849" y="1417638"/>
            <a:ext cx="5510667" cy="47561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type="body"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a:t>Problems of requirements analysis</a:t>
            </a:r>
          </a:p>
        </p:txBody>
      </p:sp>
      <p:sp>
        <p:nvSpPr>
          <p:cNvPr id="8195" name="Rectangle 3"/>
          <p:cNvSpPr>
            <a:spLocks noGrp="1" noChangeArrowheads="1"/>
          </p:cNvSpPr>
          <p:nvPr>
            <p:ph type="body"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and analysis</a:t>
            </a:r>
          </a:p>
        </p:txBody>
      </p:sp>
      <p:sp>
        <p:nvSpPr>
          <p:cNvPr id="3" name="Content Placeholder 2"/>
          <p:cNvSpPr>
            <a:spLocks noGrp="1"/>
          </p:cNvSpPr>
          <p:nvPr>
            <p:ph idx="1"/>
          </p:nvPr>
        </p:nvSpPr>
        <p:spPr/>
        <p:txBody>
          <a:bodyPr/>
          <a:lstStyle/>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Stages include:</a:t>
            </a:r>
          </a:p>
          <a:p>
            <a:pPr lvl="1"/>
            <a:r>
              <a:rPr lang="en-US" dirty="0"/>
              <a:t>Requirements discovery,</a:t>
            </a:r>
          </a:p>
          <a:p>
            <a:pPr lvl="1"/>
            <a:r>
              <a:rPr lang="en-US" dirty="0"/>
              <a:t>Requirements classification and organization,</a:t>
            </a:r>
          </a:p>
          <a:p>
            <a:pPr lvl="1"/>
            <a:r>
              <a:rPr lang="en-US" dirty="0"/>
              <a:t>Requirements prioritization and negotiation,</a:t>
            </a:r>
          </a:p>
          <a:p>
            <a:pPr lvl="1"/>
            <a:r>
              <a:rPr lang="en-US" dirty="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pic>
        <p:nvPicPr>
          <p:cNvPr id="4" name="Picture 3" descr="4.13 RequirementsElicita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752600" y="1752600"/>
            <a:ext cx="4881613" cy="320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type="body"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the spiral.</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type="body" idx="1"/>
          </p:nvPr>
        </p:nvSpPr>
        <p:spPr>
          <a:noFill/>
          <a:ln/>
        </p:spPr>
        <p:txBody>
          <a:bodyPr lIns="90487" tIns="44450" rIns="90487" bIns="44450"/>
          <a:lstStyle/>
          <a:p>
            <a:r>
              <a:rPr lang="en-GB" sz="2400"/>
              <a:t>Stakeholders don’t know what they really want.</a:t>
            </a:r>
          </a:p>
          <a:p>
            <a:r>
              <a:rPr lang="en-GB" sz="2400"/>
              <a:t>Stakeholders express requirements in their own terms.</a:t>
            </a:r>
          </a:p>
          <a:p>
            <a:r>
              <a:rPr lang="en-GB" sz="2400"/>
              <a:t>Different stakeholders may have conflicting requirements.</a:t>
            </a:r>
          </a:p>
          <a:p>
            <a:r>
              <a:rPr lang="en-GB" sz="2400"/>
              <a:t>Organisational and political factors may influence the system requirements.</a:t>
            </a:r>
          </a:p>
          <a:p>
            <a:r>
              <a:rPr lang="en-GB" sz="2400"/>
              <a:t>The requirements change during the analysis process. New stakeholders may emerge and the business environment change.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software requirements document is an agreed statement of the system requirements. It should be organized so that both system customers and software developers can use it.</a:t>
            </a:r>
            <a:endParaRPr lang="en-GB" dirty="0"/>
          </a:p>
          <a:p>
            <a:r>
              <a:rPr lang="en-US" dirty="0"/>
              <a:t>The requirements engineering process is an iterative process including requirements elicitation, specification and validation.</a:t>
            </a:r>
            <a:endParaRPr lang="en-GB" dirty="0"/>
          </a:p>
          <a:p>
            <a:r>
              <a:rPr lang="en-US" dirty="0"/>
              <a:t>Requirements elicitation and analysis is an iterative process that can be represented as a spiral of activities – requirements discovery, requirements classification and organization, requirements negotiation and requirements documentation.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3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Lecture 3</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45</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r>
              <a:rPr lang="en-US" dirty="0"/>
              <a:t>The process of gathering information about the required and existing systems and distilling the user and system requirements from this information.</a:t>
            </a:r>
          </a:p>
          <a:p>
            <a:r>
              <a:rPr lang="en-US" dirty="0"/>
              <a:t>Interaction is with system stakeholders from managers to external regulators.</a:t>
            </a:r>
          </a:p>
          <a:p>
            <a:r>
              <a:rPr lang="en-US" dirty="0"/>
              <a:t>Systems normally have a range of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p:txBody>
          <a:bodyPr/>
          <a:lstStyle/>
          <a:p>
            <a:r>
              <a:rPr lang="en-US" dirty="0"/>
              <a:t>Patients</a:t>
            </a:r>
            <a:r>
              <a:rPr lang="en-US" i="1" dirty="0"/>
              <a:t> </a:t>
            </a:r>
            <a:r>
              <a:rPr lang="en-US" dirty="0"/>
              <a:t>whose information is recorded in the system.</a:t>
            </a:r>
            <a:endParaRPr lang="en-GB" dirty="0"/>
          </a:p>
          <a:p>
            <a:r>
              <a:rPr lang="en-US" dirty="0"/>
              <a:t>Doctors</a:t>
            </a:r>
            <a:r>
              <a:rPr lang="en-US" i="1" dirty="0"/>
              <a:t> </a:t>
            </a:r>
            <a:r>
              <a:rPr lang="en-US" dirty="0"/>
              <a:t>who are responsible for assessing and treating patients.</a:t>
            </a:r>
            <a:endParaRPr lang="en-GB" dirty="0"/>
          </a:p>
          <a:p>
            <a:r>
              <a:rPr lang="en-US" dirty="0"/>
              <a:t>Nurses who coordinate the consultations with doctors and administer some treatments.</a:t>
            </a:r>
            <a:endParaRPr lang="en-GB" dirty="0"/>
          </a:p>
          <a:p>
            <a:r>
              <a:rPr lang="en-US" dirty="0"/>
              <a:t>Medical receptionists</a:t>
            </a:r>
            <a:r>
              <a:rPr lang="en-US" i="1" dirty="0"/>
              <a:t> </a:t>
            </a:r>
            <a:r>
              <a:rPr lang="en-US" dirty="0"/>
              <a:t>who manage patients’ appointments.</a:t>
            </a:r>
            <a:endParaRPr lang="en-GB" dirty="0"/>
          </a:p>
          <a:p>
            <a:r>
              <a:rPr lang="en-US" dirty="0"/>
              <a:t>IT staff 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p:txBody>
          <a:bodyPr/>
          <a:lstStyle/>
          <a:p>
            <a:r>
              <a:rPr lang="en-US" dirty="0"/>
              <a:t>A medical ethics manager who must ensure that the system meets current ethical guidelines for patient care.</a:t>
            </a:r>
            <a:endParaRPr lang="en-GB" dirty="0"/>
          </a:p>
          <a:p>
            <a:r>
              <a:rPr lang="en-US" dirty="0"/>
              <a:t>Health care managers</a:t>
            </a:r>
            <a:r>
              <a:rPr lang="en-US" i="1" dirty="0"/>
              <a:t> </a:t>
            </a:r>
            <a:r>
              <a:rPr lang="en-US" dirty="0"/>
              <a:t>who obtain management information from the system.</a:t>
            </a:r>
            <a:endParaRPr lang="en-GB" dirty="0"/>
          </a:p>
          <a:p>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type="body" idx="1"/>
          </p:nvPr>
        </p:nvSpPr>
        <p:spPr/>
        <p:txBody>
          <a:bodyPr/>
          <a:lstStyle/>
          <a:p>
            <a:pPr>
              <a:lnSpc>
                <a:spcPct val="90000"/>
              </a:lnSpc>
            </a:pPr>
            <a:r>
              <a:rPr lang="en-US" sz="2400"/>
              <a:t>Normally a mix of closed and open-ended interviewing.</a:t>
            </a:r>
          </a:p>
          <a:p>
            <a:pPr>
              <a:lnSpc>
                <a:spcPct val="90000"/>
              </a:lnSpc>
            </a:pPr>
            <a:r>
              <a:rPr lang="en-US" sz="2400"/>
              <a:t>Interviews are good for getting an overall understanding of what stakeholders do and how they might interact with the system.</a:t>
            </a:r>
          </a:p>
          <a:p>
            <a:pPr>
              <a:lnSpc>
                <a:spcPct val="90000"/>
              </a:lnSpc>
            </a:pPr>
            <a:r>
              <a:rPr lang="en-US" sz="2400"/>
              <a:t>Interviews are not good for understanding domain requirements</a:t>
            </a:r>
          </a:p>
          <a:p>
            <a:pPr lvl="1">
              <a:lnSpc>
                <a:spcPct val="90000"/>
              </a:lnSpc>
            </a:pPr>
            <a:r>
              <a:rPr lang="en-US" sz="2000"/>
              <a:t>Requirements engineers cannot understand specific domain terminology;</a:t>
            </a:r>
          </a:p>
          <a:p>
            <a:pPr lvl="1">
              <a:lnSpc>
                <a:spcPct val="90000"/>
              </a:lnSpc>
            </a:pPr>
            <a:r>
              <a:rPr lang="en-US" sz="2000"/>
              <a:t>Some domain knowledge is so familiar that people find it hard to articulate or think that it isn’t worth articulating.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Scenarios</a:t>
            </a:r>
          </a:p>
        </p:txBody>
      </p:sp>
      <p:sp>
        <p:nvSpPr>
          <p:cNvPr id="90115" name="Rectangle 3"/>
          <p:cNvSpPr>
            <a:spLocks noGrp="1" noChangeArrowheads="1"/>
          </p:cNvSpPr>
          <p:nvPr>
            <p:ph type="body" idx="1"/>
          </p:nvPr>
        </p:nvSpPr>
        <p:spPr/>
        <p:txBody>
          <a:bodyPr/>
          <a:lstStyle/>
          <a:p>
            <a:r>
              <a:rPr lang="en-US"/>
              <a:t>Scenarios are real-life examples of how a system can be used.</a:t>
            </a:r>
          </a:p>
          <a:p>
            <a:r>
              <a:rPr lang="en-US"/>
              <a:t>They should include</a:t>
            </a:r>
          </a:p>
          <a:p>
            <a:pPr lvl="1"/>
            <a:r>
              <a:rPr lang="en-US"/>
              <a:t>A description of the starting situation;</a:t>
            </a:r>
          </a:p>
          <a:p>
            <a:pPr lvl="1"/>
            <a:r>
              <a:rPr lang="en-US"/>
              <a:t>A description of the normal flow of events;</a:t>
            </a:r>
          </a:p>
          <a:p>
            <a:pPr lvl="1"/>
            <a:r>
              <a:rPr lang="en-US"/>
              <a:t>A description of what can go wrong;</a:t>
            </a:r>
          </a:p>
          <a:p>
            <a:pPr lvl="1"/>
            <a:r>
              <a:rPr lang="en-US"/>
              <a:t>Information about other concurrent activities;</a:t>
            </a:r>
          </a:p>
          <a:p>
            <a:pPr lvl="1"/>
            <a:r>
              <a:rPr lang="en-US"/>
              <a:t>A description of the state when the scenario finishes.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a:t>Scenario for collecting medical history in MHC-PMS</a:t>
            </a:r>
            <a:r>
              <a:rPr lang="en-GB" dirty="0"/>
              <a:t> </a:t>
            </a:r>
            <a:endParaRPr lang="en-US" dirty="0"/>
          </a:p>
        </p:txBody>
      </p:sp>
      <p:graphicFrame>
        <p:nvGraphicFramePr>
          <p:cNvPr id="31746" name="Object 2"/>
          <p:cNvGraphicFramePr>
            <a:graphicFrameLocks noChangeAspect="1"/>
          </p:cNvGraphicFramePr>
          <p:nvPr/>
        </p:nvGraphicFramePr>
        <p:xfrm>
          <a:off x="457200" y="1905000"/>
          <a:ext cx="8229600" cy="4394200"/>
        </p:xfrm>
        <a:graphic>
          <a:graphicData uri="http://schemas.openxmlformats.org/presentationml/2006/ole">
            <mc:AlternateContent xmlns:mc="http://schemas.openxmlformats.org/markup-compatibility/2006">
              <mc:Choice xmlns:v="urn:schemas-microsoft-com:vml" Requires="v">
                <p:oleObj name="Document" r:id="rId2" imgW="5943600" imgH="3505200" progId="Word.Document.12">
                  <p:embed/>
                </p:oleObj>
              </mc:Choice>
              <mc:Fallback>
                <p:oleObj name="Document" r:id="rId2" imgW="5943600" imgH="350520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57200" y="1905000"/>
                        <a:ext cx="8229600" cy="439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a:t>Scenario for collecting medical history in MHC-PMS</a:t>
            </a:r>
            <a:r>
              <a:rPr lang="en-GB" dirty="0"/>
              <a:t> </a:t>
            </a:r>
            <a:endParaRPr lang="en-US" dirty="0"/>
          </a:p>
        </p:txBody>
      </p:sp>
      <p:graphicFrame>
        <p:nvGraphicFramePr>
          <p:cNvPr id="31746" name="Object 2"/>
          <p:cNvGraphicFramePr>
            <a:graphicFrameLocks noChangeAspect="1"/>
          </p:cNvGraphicFramePr>
          <p:nvPr/>
        </p:nvGraphicFramePr>
        <p:xfrm>
          <a:off x="304800" y="1776412"/>
          <a:ext cx="8534400" cy="4319588"/>
        </p:xfrm>
        <a:graphic>
          <a:graphicData uri="http://schemas.openxmlformats.org/presentationml/2006/ole">
            <mc:AlternateContent xmlns:mc="http://schemas.openxmlformats.org/markup-compatibility/2006">
              <mc:Choice xmlns:v="urn:schemas-microsoft-com:vml" Requires="v">
                <p:oleObj name="Document" r:id="rId2" imgW="5943600" imgH="3937000" progId="Word.Document.12">
                  <p:embed/>
                </p:oleObj>
              </mc:Choice>
              <mc:Fallback>
                <p:oleObj name="Document" r:id="rId2" imgW="5943600" imgH="393700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04800" y="1776412"/>
                        <a:ext cx="8534400" cy="431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type="body" idx="1"/>
          </p:nvPr>
        </p:nvSpPr>
        <p:spPr/>
        <p:txBody>
          <a:bodyPr/>
          <a:lstStyle/>
          <a:p>
            <a:r>
              <a:rPr lang="en-GB" dirty="0"/>
              <a:t>Use-cases are a scenario based technique in the UML which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 (see Chapter 5).</a:t>
            </a:r>
          </a:p>
          <a:p>
            <a:r>
              <a:rPr lang="en-GB" dirty="0"/>
              <a:t>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MHC-PMS</a:t>
            </a:r>
            <a:r>
              <a:rPr lang="en-GB" dirty="0"/>
              <a:t> </a:t>
            </a:r>
            <a:endParaRPr lang="en-US" dirty="0"/>
          </a:p>
        </p:txBody>
      </p:sp>
      <p:pic>
        <p:nvPicPr>
          <p:cNvPr id="4" name="Picture 3" descr="4.15 UseCase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447799" y="1828800"/>
            <a:ext cx="6555509" cy="38862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type="body" idx="1"/>
          </p:nvPr>
        </p:nvSpPr>
        <p:spPr>
          <a:noFill/>
          <a:ln/>
        </p:spPr>
        <p:txBody>
          <a:bodyPr lIns="90487" tIns="44450" rIns="90487" bIns="44450"/>
          <a:lstStyle/>
          <a:p>
            <a:r>
              <a:rPr lang="en-GB" sz="2400" dirty="0"/>
              <a:t>A social scientist 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type="body"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p>
          <a:p>
            <a:pPr lvl="1"/>
            <a:r>
              <a:rPr lang="en-GB" dirty="0"/>
              <a:t>Awareness of what other people are doing leads to changes in the ways in which we do things.</a:t>
            </a:r>
          </a:p>
          <a:p>
            <a:r>
              <a:rPr lang="en-GB" dirty="0"/>
              <a:t>Ethnography is effective for understanding existing processes but cannot identify new features that should be added to a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type="body"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a:t>Ethnography and prototyping for requirements analysis</a:t>
            </a:r>
            <a:r>
              <a:rPr lang="en-GB" dirty="0"/>
              <a:t> </a:t>
            </a:r>
            <a:endParaRPr lang="en-US" dirty="0"/>
          </a:p>
        </p:txBody>
      </p:sp>
      <p:pic>
        <p:nvPicPr>
          <p:cNvPr id="4" name="Picture 3" descr="4.16 Ethno-prototyping.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143000" y="2819400"/>
            <a:ext cx="7394864" cy="193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type="body"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type="body" idx="1"/>
          </p:nvPr>
        </p:nvSpPr>
        <p:spPr>
          <a:noFill/>
          <a:ln/>
        </p:spPr>
        <p:txBody>
          <a:bodyPr lIns="90487" tIns="44450" rIns="90487" bIns="44450"/>
          <a:lstStyle/>
          <a:p>
            <a:r>
              <a:rPr lang="en-GB" sz="2400" dirty="0">
                <a:solidFill>
                  <a:srgbClr val="FF0000"/>
                </a:solidFill>
              </a:rPr>
              <a:t>Validity</a:t>
            </a:r>
            <a:r>
              <a:rPr lang="en-GB" sz="2400" dirty="0"/>
              <a:t>. Does the system provide the functions which best support the customer’s needs?</a:t>
            </a:r>
          </a:p>
          <a:p>
            <a:r>
              <a:rPr lang="en-GB" sz="2400" dirty="0">
                <a:solidFill>
                  <a:srgbClr val="FF0000"/>
                </a:solidFill>
              </a:rPr>
              <a:t>Consistency</a:t>
            </a:r>
            <a:r>
              <a:rPr lang="en-GB" sz="2400" dirty="0"/>
              <a:t>. Are there any requirements conflicts?</a:t>
            </a:r>
          </a:p>
          <a:p>
            <a:r>
              <a:rPr lang="en-GB" sz="2400" dirty="0">
                <a:solidFill>
                  <a:srgbClr val="FF0000"/>
                </a:solidFill>
              </a:rPr>
              <a:t>Completeness</a:t>
            </a:r>
            <a:r>
              <a:rPr lang="en-GB" sz="2400" dirty="0"/>
              <a:t>. Are all functions required by the customer included?</a:t>
            </a:r>
          </a:p>
          <a:p>
            <a:r>
              <a:rPr lang="en-GB" sz="2400" dirty="0">
                <a:solidFill>
                  <a:srgbClr val="FF0000"/>
                </a:solidFill>
              </a:rPr>
              <a:t>Realism</a:t>
            </a:r>
            <a:r>
              <a:rPr lang="en-GB" sz="2400" dirty="0"/>
              <a:t>. Can the requirements be implemented given available budget and technology</a:t>
            </a:r>
          </a:p>
          <a:p>
            <a:r>
              <a:rPr lang="en-GB" sz="2400" dirty="0">
                <a:solidFill>
                  <a:srgbClr val="FF0000"/>
                </a:solidFill>
              </a:rPr>
              <a:t>Verifiability</a:t>
            </a:r>
            <a:r>
              <a:rPr lang="en-GB" sz="2400" dirty="0"/>
              <a:t>.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type="body"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 2.</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type="body"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type="body"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type="body"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sp>
        <p:nvSpPr>
          <p:cNvPr id="5" name="Footer Placeholder 4"/>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pic>
        <p:nvPicPr>
          <p:cNvPr id="4" name="Picture 3" descr="4.17 ReqEvolu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133600" y="2514600"/>
            <a:ext cx="5005917" cy="25146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304800" y="1524000"/>
            <a:ext cx="8686800" cy="4525963"/>
          </a:xfrm>
        </p:spPr>
        <p:txBody>
          <a:bodyPr/>
          <a:lstStyle/>
          <a:p>
            <a:r>
              <a:rPr lang="en-US" dirty="0"/>
              <a:t>Establishes the level of requirements management detail that is required.</a:t>
            </a:r>
          </a:p>
          <a:p>
            <a:r>
              <a:rPr lang="en-US" dirty="0"/>
              <a:t>Requirements management decisions:</a:t>
            </a:r>
          </a:p>
          <a:p>
            <a:pPr lvl="1"/>
            <a:r>
              <a:rPr lang="en-US" i="1" dirty="0">
                <a:solidFill>
                  <a:srgbClr val="FF0000"/>
                </a:solidFill>
              </a:rPr>
              <a:t>Requirements identification</a:t>
            </a:r>
            <a:r>
              <a:rPr lang="en-US" dirty="0">
                <a:solidFill>
                  <a:srgbClr val="FF0000"/>
                </a:solidFill>
              </a:rPr>
              <a:t> </a:t>
            </a:r>
            <a:r>
              <a:rPr lang="en-US" dirty="0"/>
              <a:t>Each requirement must be uniquely identified so that it can be cross-referenced with other requirements. </a:t>
            </a:r>
            <a:endParaRPr lang="en-GB" dirty="0"/>
          </a:p>
          <a:p>
            <a:pPr lvl="1"/>
            <a:r>
              <a:rPr lang="en-US" i="1" dirty="0">
                <a:solidFill>
                  <a:srgbClr val="FF0000"/>
                </a:solidFill>
              </a:rPr>
              <a:t>A change management process</a:t>
            </a:r>
            <a:r>
              <a:rPr lang="en-US" dirty="0">
                <a:solidFill>
                  <a:srgbClr val="FF0000"/>
                </a:solidFill>
              </a:rPr>
              <a:t> </a:t>
            </a:r>
            <a:r>
              <a:rPr lang="en-US" dirty="0"/>
              <a:t>This is the set of activities that assess the impact and cost of changes. I discuss this process in more detail in the following section.</a:t>
            </a:r>
            <a:endParaRPr lang="en-GB" dirty="0"/>
          </a:p>
          <a:p>
            <a:pPr lvl="1"/>
            <a:r>
              <a:rPr lang="en-US" i="1" dirty="0">
                <a:solidFill>
                  <a:srgbClr val="FF0000"/>
                </a:solidFill>
              </a:rPr>
              <a:t>Traceability policies</a:t>
            </a:r>
            <a:r>
              <a:rPr lang="en-US" dirty="0">
                <a:solidFill>
                  <a:srgbClr val="FF0000"/>
                </a:solidFill>
              </a:rPr>
              <a:t> </a:t>
            </a:r>
            <a:r>
              <a:rPr lang="en-US" dirty="0"/>
              <a:t>These policies define the relationships between each requirement and between the requirements and the system design that should be recorded. </a:t>
            </a:r>
            <a:endParaRPr lang="en-GB" dirty="0"/>
          </a:p>
          <a:p>
            <a:pPr lvl="1"/>
            <a:r>
              <a:rPr lang="en-US" i="1" dirty="0">
                <a:solidFill>
                  <a:srgbClr val="FF0000"/>
                </a:solidFill>
              </a:rPr>
              <a:t>Tool support</a:t>
            </a:r>
            <a:r>
              <a:rPr lang="en-US" dirty="0">
                <a:solidFill>
                  <a:srgbClr val="FF0000"/>
                </a:solidFill>
              </a:rPr>
              <a:t> </a:t>
            </a:r>
            <a:r>
              <a:rPr lang="en-US" dirty="0"/>
              <a:t>Tools that may be used range from specialist requirements management systems to spreadsheets and simple database systems.</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p:txBody>
          <a:bodyPr/>
          <a:lstStyle/>
          <a:p>
            <a:r>
              <a:rPr lang="en-US" dirty="0"/>
              <a:t>Deciding if a requirements change should be accepted</a:t>
            </a:r>
          </a:p>
          <a:p>
            <a:pPr lvl="1"/>
            <a:r>
              <a:rPr lang="en-US" i="1" dirty="0">
                <a:solidFill>
                  <a:srgbClr val="FF0000"/>
                </a:solidFill>
              </a:rPr>
              <a:t>Problem analysis and change specification</a:t>
            </a:r>
            <a:r>
              <a:rPr lang="en-US" dirty="0">
                <a:solidFill>
                  <a:srgbClr val="FF0000"/>
                </a:solidFill>
              </a:rPr>
              <a:t> </a:t>
            </a:r>
          </a:p>
          <a:p>
            <a:pPr lvl="2"/>
            <a:r>
              <a:rPr lang="en-US" dirty="0"/>
              <a:t>During this stage, the problem or the change proposal is analyzed to check that it is valid. This analysis is fed back to the change requestor who may respond with a more specific requirements change proposal, or decide to withdraw the request.</a:t>
            </a:r>
            <a:endParaRPr lang="en-GB" dirty="0"/>
          </a:p>
          <a:p>
            <a:pPr lvl="1"/>
            <a:r>
              <a:rPr lang="en-US" i="1" dirty="0">
                <a:solidFill>
                  <a:srgbClr val="FF0000"/>
                </a:solidFill>
              </a:rPr>
              <a:t>Change analysis and costing</a:t>
            </a:r>
            <a:r>
              <a:rPr lang="en-US" dirty="0">
                <a:solidFill>
                  <a:srgbClr val="FF0000"/>
                </a:solidFill>
              </a:rPr>
              <a:t> </a:t>
            </a:r>
          </a:p>
          <a:p>
            <a:pPr lvl="2"/>
            <a:r>
              <a:rPr lang="en-US" dirty="0"/>
              <a:t>The effect of the proposed change is assessed using traceability information and general knowledge of the system requirements. Once this analysis is completed, a decision is made whether or not to proceed with the requirements change.</a:t>
            </a:r>
            <a:endParaRPr lang="en-GB" dirty="0"/>
          </a:p>
          <a:p>
            <a:pPr lvl="1"/>
            <a:r>
              <a:rPr lang="en-US" dirty="0">
                <a:solidFill>
                  <a:srgbClr val="FF0000"/>
                </a:solidFill>
              </a:rPr>
              <a:t>Change implementation</a:t>
            </a:r>
            <a:r>
              <a:rPr lang="en-US" dirty="0"/>
              <a:t> </a:t>
            </a:r>
          </a:p>
          <a:p>
            <a:pPr lvl="2"/>
            <a:r>
              <a:rPr lang="en-US" dirty="0"/>
              <a:t>The requirements document and, where necessary, the system design and implementation, are modified. Ideally, the document should be organized so that changes can be easily implemented.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pic>
        <p:nvPicPr>
          <p:cNvPr id="4" name="Picture 3" descr="4.18 ReqChangeMa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28600" y="3136900"/>
            <a:ext cx="8661952" cy="10541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6" name="Footer Placeholder 5"/>
          <p:cNvSpPr>
            <a:spLocks noGrp="1"/>
          </p:cNvSpPr>
          <p:nvPr>
            <p:ph type="ftr" sz="quarter" idx="11"/>
          </p:nvPr>
        </p:nvSpPr>
        <p:spPr/>
        <p:txBody>
          <a:bodyPr/>
          <a:lstStyle/>
          <a:p>
            <a:pPr>
              <a:defRPr/>
            </a:pPr>
            <a:r>
              <a:rPr lang="en-US"/>
              <a:t>Chapter 4 Requirements engineering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endParaRPr lang="en-US" dirty="0"/>
          </a:p>
        </p:txBody>
      </p:sp>
      <p:sp>
        <p:nvSpPr>
          <p:cNvPr id="3" name="Content Placeholder 2"/>
          <p:cNvSpPr>
            <a:spLocks noGrp="1"/>
          </p:cNvSpPr>
          <p:nvPr>
            <p:ph idx="1"/>
          </p:nvPr>
        </p:nvSpPr>
        <p:spPr/>
        <p:txBody>
          <a:bodyPr/>
          <a:lstStyle/>
          <a:p>
            <a:r>
              <a:rPr lang="en-US" dirty="0"/>
              <a:t>You can use a range of techniques for requirements elicitation including interviews, scenarios, use-cases and ethnography.</a:t>
            </a:r>
          </a:p>
          <a:p>
            <a:r>
              <a:rPr lang="en-US" dirty="0"/>
              <a:t>Requirements validation is the process of checking the requirements for validity, consistency, completeness, realism and verifiability. </a:t>
            </a:r>
            <a:endParaRPr lang="en-GB" dirty="0"/>
          </a:p>
          <a:p>
            <a:r>
              <a:rPr lang="en-US" dirty="0"/>
              <a:t>Business, organizational and technical changes inevitably lead to changes to the requirements for a software system. Requirements management is the process of managing and controlling these changes.</a:t>
            </a:r>
            <a:endParaRPr lang="en-GB" dirty="0"/>
          </a:p>
          <a:p>
            <a:endParaRPr lang="en-US" dirty="0"/>
          </a:p>
        </p:txBody>
      </p:sp>
      <p:sp>
        <p:nvSpPr>
          <p:cNvPr id="5" name="Footer Placeholder 4"/>
          <p:cNvSpPr>
            <a:spLocks noGrp="1"/>
          </p:cNvSpPr>
          <p:nvPr>
            <p:ph type="ftr" sz="quarter" idx="11"/>
          </p:nvPr>
        </p:nvSpPr>
        <p:spPr/>
        <p:txBody>
          <a:bodyPr/>
          <a:lstStyle/>
          <a:p>
            <a:r>
              <a:rPr lang="en-US"/>
              <a:t>Chapter 4 Requirements engineering</a:t>
            </a:r>
          </a:p>
        </p:txBody>
      </p:sp>
      <p:sp>
        <p:nvSpPr>
          <p:cNvPr id="4" name="Slide Number Placeholder 3"/>
          <p:cNvSpPr>
            <a:spLocks noGrp="1"/>
          </p:cNvSpPr>
          <p:nvPr>
            <p:ph type="sldNum" sz="quarter" idx="12"/>
          </p:nvPr>
        </p:nvSpPr>
        <p:spPr/>
        <p:txBody>
          <a:bodyPr/>
          <a:lstStyle/>
          <a:p>
            <a:fld id="{825F70CE-84E9-D04C-9B15-10C693AA0F2A}" type="slidenum">
              <a:rPr lang="en-US" smtClean="0"/>
              <a:pPr/>
              <a:t>72</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4210</TotalTime>
  <Words>4672</Words>
  <Application>Microsoft Office PowerPoint</Application>
  <PresentationFormat>On-screen Show (4:3)</PresentationFormat>
  <Paragraphs>510</Paragraphs>
  <Slides>72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78" baseType="lpstr">
      <vt:lpstr>Arial</vt:lpstr>
      <vt:lpstr>Calibri</vt:lpstr>
      <vt:lpstr>Wingdings</vt:lpstr>
      <vt:lpstr>Zapf Dingbats</vt:lpstr>
      <vt:lpstr>SE9</vt:lpstr>
      <vt:lpstr>Document</vt:lpstr>
      <vt:lpstr>Chapter 4– Requirements Engineering</vt:lpstr>
      <vt:lpstr>Topics covered</vt:lpstr>
      <vt:lpstr>Requirements engineering</vt:lpstr>
      <vt:lpstr>What is a requirement?</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MHC-PMS </vt:lpstr>
      <vt:lpstr>Goals and requirements</vt:lpstr>
      <vt:lpstr>Usability requirements</vt:lpstr>
      <vt:lpstr>Metrics for specifying nonfunctional requirements</vt:lpstr>
      <vt:lpstr>Key points</vt:lpstr>
      <vt:lpstr>Chapter 4 – Requirements Engineering</vt:lpstr>
      <vt:lpstr>The software requirements document</vt:lpstr>
      <vt:lpstr>Agile methods and requirements</vt:lpstr>
      <vt:lpstr>Users of a requirements document </vt:lpstr>
      <vt:lpstr>The structure of a requirements document </vt:lpstr>
      <vt:lpstr>The structure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Requirements engineering processes</vt:lpstr>
      <vt:lpstr>A spiral view of the requirements engineering process </vt:lpstr>
      <vt:lpstr>Requirements elicitation and analysis</vt:lpstr>
      <vt:lpstr>Problems of requirements analysis</vt:lpstr>
      <vt:lpstr>Requirements elicitation and analysis</vt:lpstr>
      <vt:lpstr>The requirements elicitation and analysis process </vt:lpstr>
      <vt:lpstr>Process activities</vt:lpstr>
      <vt:lpstr>Problems of requirements elicitation</vt:lpstr>
      <vt:lpstr>Key points</vt:lpstr>
      <vt:lpstr>Chapter 3 – Requirements Engineering</vt:lpstr>
      <vt:lpstr>Requirements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Ethnography</vt:lpstr>
      <vt:lpstr>Scope of ethnography</vt:lpstr>
      <vt:lpstr>Focused ethnography</vt:lpstr>
      <vt:lpstr>Ethnography and prototyping for requirements analysis </vt:lpstr>
      <vt:lpstr>Requirements validation</vt:lpstr>
      <vt:lpstr>Requirements checking</vt:lpstr>
      <vt:lpstr>Requirements validation techniques</vt:lpstr>
      <vt:lpstr>Requirements reviews</vt:lpstr>
      <vt:lpstr>Review checks</vt:lpstr>
      <vt:lpstr>Requirements management</vt:lpstr>
      <vt:lpstr>Changing requirements</vt:lpstr>
      <vt:lpstr>Changing requirements</vt:lpstr>
      <vt:lpstr>Requirements evolution </vt:lpstr>
      <vt:lpstr>Requirements management planning</vt:lpstr>
      <vt:lpstr>Requirements change management</vt:lpstr>
      <vt:lpstr>Requirements change management </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dolor0125@outlook.com</cp:lastModifiedBy>
  <cp:revision>21</cp:revision>
  <cp:lastPrinted>2010-01-11T10:54:43Z</cp:lastPrinted>
  <dcterms:created xsi:type="dcterms:W3CDTF">2010-01-08T19:43:52Z</dcterms:created>
  <dcterms:modified xsi:type="dcterms:W3CDTF">2026-02-12T08:38:23Z</dcterms:modified>
</cp:coreProperties>
</file>